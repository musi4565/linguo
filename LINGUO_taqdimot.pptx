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F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F5F3FA"/>
                </a:solidFill>
                <a:latin typeface="Segoe UI"/>
              </a:rPr>
              <a:t>LINGUO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A95CFF"/>
                </a:solidFill>
                <a:latin typeface="Segoe UI"/>
              </a:rPr>
              <a:t>Chet tillarni o'qib va tinglab o'rganish platformasi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B9B4C7"/>
                </a:solidFill>
                <a:latin typeface="Segoe UI"/>
              </a:rPr>
              <a:t>Muammo va yechim — loyiha himoyasi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F5F3FA"/>
                </a:solidFill>
                <a:latin typeface="Segoe UI"/>
              </a:rPr>
              <a:t>🇬🇧 Ingliz   🇷🇺 Rus   🇸🇦 Arab   🇰🇷 Koreys   🇹🇷 Turk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685800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3FA"/>
                </a:solidFill>
                <a:latin typeface="Segoe UI"/>
              </a:rPr>
              <a:t>MUAMMO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Chet tilini o'rganuvchilar duch keladigan to'siqlar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11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B9B4C7"/>
                </a:solidFill>
                <a:latin typeface="Segoe U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28216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Audio va matn alohida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Tinglash uchun audio, o'qish uchun matn — ikkalasi sinxron emas, so'zni eshitib topib bo'lmaydi.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62072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181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9008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Kontent faqat inglizchaga qaratilgan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Rus, arab, koreys, turk tillari uchun sifatli 'matn+audio' materiallar deyarli yo'q.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7997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51959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So'zlar yodlanmaydi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O'qish paytida uchragan noma'lum so'z qayerdadir yo'qoladi — hech qanday saqlash/takrorlash tizimi yo'q.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85816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418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513831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Qimmat va murakkab ilovalar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Mavjud platformalarda obuna qimmat, interfeys chigal, boshlang'ich uchun mos 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685800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3FA"/>
                </a:solidFill>
                <a:latin typeface="Segoe UI"/>
              </a:rPr>
              <a:t>YECHIM: LINGUO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Bitta ekranda matn + sinxron audio + lug'at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11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B9B4C7"/>
                </a:solidFill>
                <a:latin typeface="Segoe U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28216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Sinxron tinglovchi reader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Audio jumlama-jumla ajralib turadi (timestamp'lar), tezlikni 1x/1.25x/1.5x o'zgartirish mumkin.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62072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181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9008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5 til × 10 kitob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Har bir til uchun 1 bo'limli ~5 minutlik darslar: matn + tarjima + professional TTS audio.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79976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51959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Yondashma: so'zga bos — saqla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Matndagi istalgan so'zgа bosilsa avto-tarjima chiqadi va bir tugma bilan lug'atga saqlanadi.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85816"/>
            <a:ext cx="10972800" cy="111556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4184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F5F3FA"/>
                </a:solidFill>
                <a:latin typeface="Segoe UI"/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513831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5F3FA"/>
                </a:solidFill>
                <a:latin typeface="Segoe UI"/>
              </a:rPr>
              <a:t>Progress va gamifikatsiya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B9B4C7"/>
                </a:solidFill>
                <a:latin typeface="Segoe UI"/>
              </a:rPr>
              <a:t>Foizli progress, kunlik statistika, streak, yutuqlar (achievements) — motivatsiya pasaymaydi.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685800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3FA"/>
                </a:solidFill>
                <a:latin typeface="Segoe UI"/>
              </a:rPr>
              <a:t>TEXNOLOGIYALAR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Zamonaviy full-stack arxitektura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11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B9B4C7"/>
                </a:solidFill>
                <a:latin typeface="Segoe U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4480560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611880" cy="82296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5F3FA"/>
                </a:solidFill>
                <a:latin typeface="Segoe U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Python + Django 5 / DRF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PostgreSQL ma'lumotlar bazasi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JWT autentifikatsiya (SimpleJWT)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edge-tts orqali MP3 generatsiya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Tarjima API integratsiyasi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3611880" cy="4480560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611880" cy="82296"/>
          </a:xfrm>
          <a:prstGeom prst="rect">
            <a:avLst/>
          </a:prstGeom>
          <a:solidFill>
            <a:srgbClr val="FF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5F3FA"/>
                </a:solidFill>
                <a:latin typeface="Segoe U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6888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React 19 + Vite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React Router (SPA marshrutlar)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Zustand holat boshqaruvi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Axios + token refresh interceptor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To'liq responsiv dark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611880" cy="4480560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611880" cy="82296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5F3FA"/>
                </a:solidFill>
                <a:latin typeface="Segoe UI"/>
              </a:rPr>
              <a:t>Modellar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8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Language → Book → BookSection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UserProgress (foizli kuzatuv)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Bookmark / SavedWord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DailyActivity statistika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B4C7"/>
                </a:solidFill>
                <a:latin typeface="Segoe UI"/>
              </a:rPr>
              <a:t>•  Achievement tekshiruvi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685800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3FA"/>
                </a:solidFill>
                <a:latin typeface="Segoe UI"/>
              </a:rPr>
              <a:t>TOPILGAN MUAMMOLAR VA YECHILISHI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Test davomida aniqlangan 2 ta katta kamchilik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11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B9B4C7"/>
                </a:solidFill>
                <a:latin typeface="Segoe U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0" cy="2148840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5F8F"/>
                </a:solidFill>
                <a:latin typeface="Segoe UI"/>
              </a:rPr>
              <a:t>❌ Muammo 1: faqat ingliz tilida audio bor 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F5F3FA"/>
                </a:solidFill>
                <a:latin typeface="Segoe UI"/>
              </a:rPr>
              <a:t>Rus (7/10), arab, koreys, turk kitoblarida audio umuman yo'q edi — 'faqat inglizcha yaxshi ishlaydi' degan holat.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F5C9"/>
                </a:solidFill>
                <a:latin typeface="Segoe UI"/>
              </a:rPr>
              <a:t>✅ Yechim: edge-tts asosidagi parallel audio generatsiya — 33 bo'lim ~10 daqiqada tayyorlandi (ketma-ket usulda ~8 soat ketardi).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39"/>
            <a:ext cx="10972800" cy="2148840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5F8F"/>
                </a:solidFill>
                <a:latin typeface="Segoe UI"/>
              </a:rPr>
              <a:t>❌ Muammo 2: 'So'zlar' bo'limi doim bo'sh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F5F3FA"/>
                </a:solidFill>
                <a:latin typeface="Segoe UI"/>
              </a:rPr>
              <a:t>Backend'da saqlash API'si bor edi, lekin foydalanuvchi interfeysi yo'q edi.</a:t>
            </a:r>
          </a:p>
          <a:p>
            <a:pPr algn="l">
              <a:lnSpc>
                <a:spcPct val="115000"/>
              </a:lnSpc>
            </a:pPr>
            <a:r>
              <a:rPr sz="1450" b="0">
                <a:solidFill>
                  <a:srgbClr val="B9F5C9"/>
                </a:solidFill>
                <a:latin typeface="Segoe UI"/>
              </a:rPr>
              <a:t>✅ Yechim: Reader'da so'zga bosilsa avto-tarjima popup'i chiqadi va bir bosishda Xatchop→So'zlargа saqlanadi. O'chirish ham mumkin.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685800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3FA"/>
                </a:solidFill>
                <a:latin typeface="Segoe UI"/>
              </a:rPr>
              <a:t>DEMO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9875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Jonli ko'rsatish tartibi (~3 daqiqa)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11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B9B4C7"/>
                </a:solidFill>
                <a:latin typeface="Segoe U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566928" cy="566928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5F3FA"/>
                </a:solidFill>
                <a:latin typeface="Segoe U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645920"/>
            <a:ext cx="10058400" cy="56692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72821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F5F3FA"/>
                </a:solidFill>
                <a:latin typeface="Segoe UI"/>
              </a:rPr>
              <a:t>/start → Onboarding slaydlari → Ro'yxatdan o'tish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04872"/>
            <a:ext cx="566928" cy="566928"/>
          </a:xfrm>
          <a:prstGeom prst="rect">
            <a:avLst/>
          </a:prstGeom>
          <a:solidFill>
            <a:srgbClr val="FF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5F3FA"/>
                </a:solidFill>
                <a:latin typeface="Segoe U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404872"/>
            <a:ext cx="10058400" cy="56692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19" y="2487168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F5F3FA"/>
                </a:solidFill>
                <a:latin typeface="Segoe UI"/>
              </a:rPr>
              <a:t>Kurslarim → 5 til ro'yxati va progress foizlari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63824"/>
            <a:ext cx="566928" cy="566928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5F3FA"/>
                </a:solidFill>
                <a:latin typeface="Segoe UI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163824"/>
            <a:ext cx="10058400" cy="56692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74519" y="32461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F5F3FA"/>
                </a:solidFill>
                <a:latin typeface="Segoe UI"/>
              </a:rPr>
              <a:t>Ingliz tili → kitob ochish → ▶ audio bilan sinxron o'qish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22776"/>
            <a:ext cx="566928" cy="566928"/>
          </a:xfrm>
          <a:prstGeom prst="rect">
            <a:avLst/>
          </a:prstGeom>
          <a:solidFill>
            <a:srgbClr val="FF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5F3FA"/>
                </a:solidFill>
                <a:latin typeface="Segoe UI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3922776"/>
            <a:ext cx="10058400" cy="56692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400507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F5F3FA"/>
                </a:solidFill>
                <a:latin typeface="Segoe UI"/>
              </a:rPr>
              <a:t>Turk/arab tilida ham audioni ishlatish (teng muhit!)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81728"/>
            <a:ext cx="566928" cy="566928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5F3FA"/>
                </a:solidFill>
                <a:latin typeface="Segoe UI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4681728"/>
            <a:ext cx="10058400" cy="56692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4764024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F5F3FA"/>
                </a:solidFill>
                <a:latin typeface="Segoe UI"/>
              </a:rPr>
              <a:t>So'zga bosish → avto-tarjima → ☆ saqlash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440680"/>
            <a:ext cx="566928" cy="566928"/>
          </a:xfrm>
          <a:prstGeom prst="rect">
            <a:avLst/>
          </a:prstGeom>
          <a:solidFill>
            <a:srgbClr val="FF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5F3FA"/>
                </a:solidFill>
                <a:latin typeface="Segoe UI"/>
              </a:rPr>
              <a:t>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5440680"/>
            <a:ext cx="10058400" cy="566928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5522976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F5F3FA"/>
                </a:solidFill>
                <a:latin typeface="Segoe UI"/>
              </a:rPr>
              <a:t>Xatchop → So'zlar tabida kartochka, ✕ bilan o'chirish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685800"/>
          </a:xfrm>
          <a:prstGeom prst="rect">
            <a:avLst/>
          </a:prstGeom>
          <a:solidFill>
            <a:srgbClr val="A9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5F3FA"/>
                </a:solidFill>
                <a:latin typeface="Segoe UI"/>
              </a:rPr>
              <a:t>NATIJA VA KELAJAK REJALARI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411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>
                <a:solidFill>
                  <a:srgbClr val="B9B4C7"/>
                </a:solidFill>
                <a:latin typeface="Segoe U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394960" cy="4480560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A95CFF"/>
                </a:solidFill>
                <a:latin typeface="Segoe UI"/>
              </a:rPr>
              <a:t>Hozirgi natijalar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3FA"/>
                </a:solidFill>
                <a:latin typeface="Segoe UI"/>
              </a:rPr>
              <a:t>✔  50 bo'lim: hammasida matn + tarjima + audio ✓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3FA"/>
                </a:solidFill>
                <a:latin typeface="Segoe UI"/>
              </a:rPr>
              <a:t>✔  5 tilda teng darajadagi kontent ✓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3FA"/>
                </a:solidFill>
                <a:latin typeface="Segoe UI"/>
              </a:rPr>
              <a:t>✔  Sinxron jumla highlight + tezlik boshqaruvi ✓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3FA"/>
                </a:solidFill>
                <a:latin typeface="Segoe UI"/>
              </a:rPr>
              <a:t>✔  Shaxsiy lug'at: bos-saqla mexanizmi ✓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5F3FA"/>
                </a:solidFill>
                <a:latin typeface="Segoe UI"/>
              </a:rPr>
              <a:t>✔  Progress, statistika, yutuqlar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00200"/>
            <a:ext cx="5394960" cy="4480560"/>
          </a:xfrm>
          <a:prstGeom prst="rect">
            <a:avLst/>
          </a:prstGeom>
          <a:solidFill>
            <a:srgbClr val="1E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5F8F"/>
                </a:solidFill>
                <a:latin typeface="Segoe UI"/>
              </a:rPr>
              <a:t>Keyingi qadamlar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→  Flashcard / test rejimi (lug'atni takrorlash)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→  Offlayn rejim (PWA)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→  Foydalanuvchi o'z matnini yuklashi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→  Mobil ilova (React Native)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B4C7"/>
                </a:solidFill>
                <a:latin typeface="Segoe UI"/>
              </a:rPr>
              <a:t>→  AI tutor: savol-javob mashg'ulotlari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